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2000" cy="6858000"/>
  <p:notesSz cx="6858000" cy="9144000"/>
  <p:embeddedFontLst>
    <p:embeddedFont>
      <p:font typeface="JetBrains Mono" panose="020B0604020202020204" charset="0"/>
      <p:regular r:id="rId16"/>
      <p:bold r:id="rId17"/>
      <p:italic r:id="rId18"/>
      <p:boldItalic r:id="rId19"/>
    </p:embeddedFont>
    <p:embeddedFont>
      <p:font typeface="JetBrains Mono Medium" panose="020B0604020202020204" charset="0"/>
      <p:regular r:id="rId20"/>
      <p:bold r:id="rId21"/>
      <p:italic r:id="rId22"/>
      <p:boldItalic r:id="rId23"/>
    </p:embeddedFont>
    <p:embeddedFont>
      <p:font typeface="JetBrains Mono SemiBold" panose="020B0604020202020204" charset="0"/>
      <p:regular r:id="rId24"/>
      <p:bold r:id="rId25"/>
      <p:italic r:id="rId26"/>
      <p:boldItalic r:id="rId27"/>
    </p:embeddedFont>
    <p:embeddedFont>
      <p:font typeface="Urbanist" panose="020B0604020202020204" charset="0"/>
      <p:regular r:id="rId28"/>
      <p:bold r:id="rId29"/>
      <p:italic r:id="rId30"/>
      <p:boldItalic r:id="rId31"/>
    </p:embeddedFont>
    <p:embeddedFont>
      <p:font typeface="Urbanist Black" panose="020B0604020202020204" charset="0"/>
      <p:bold r:id="rId32"/>
      <p:boldItalic r:id="rId33"/>
    </p:embeddedFont>
    <p:embeddedFont>
      <p:font typeface="Urbanist Medium" panose="020B0604020202020204" charset="0"/>
      <p:regular r:id="rId34"/>
      <p:bold r:id="rId35"/>
      <p:italic r:id="rId36"/>
      <p:boldItalic r:id="rId37"/>
    </p:embeddedFont>
    <p:embeddedFont>
      <p:font typeface="Urbanist SemiBold" panose="020B060402020202020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522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6DA38F8-8CC2-4D40-BA6B-8F0355291950}">
  <a:tblStyle styleId="{D6DA38F8-8CC2-4D40-BA6B-8F035529195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font" Target="fonts/font24.fntdata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font" Target="fonts/font22.fntdata"/><Relationship Id="rId40" Type="http://schemas.openxmlformats.org/officeDocument/2006/relationships/font" Target="fonts/font2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font" Target="fonts/font21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font" Target="fonts/font23.fntdata"/><Relationship Id="rId20" Type="http://schemas.openxmlformats.org/officeDocument/2006/relationships/font" Target="fonts/font5.fntdata"/><Relationship Id="rId41" Type="http://schemas.openxmlformats.org/officeDocument/2006/relationships/font" Target="fonts/font2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0" name="Google Shape;2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0" y="4621952"/>
            <a:ext cx="4572000" cy="1238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55507" y="2006947"/>
            <a:ext cx="7880985" cy="100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Building &amp; Comparing Segmentation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Strategies for </a:t>
            </a:r>
            <a:r>
              <a:rPr lang="en-US" sz="360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Coronary Artery Calcium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029000" y="4031652"/>
            <a:ext cx="39624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00F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Road to Midterm / June 2026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200525" y="4821977"/>
            <a:ext cx="17049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E84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CONTRIBUTOR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200525" y="4983902"/>
            <a:ext cx="1704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Soham Jadhav (GSoC 2026)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286500" y="4821977"/>
            <a:ext cx="17049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E84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MENTOR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286500" y="4983902"/>
            <a:ext cx="1704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Katy Butler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200525" y="5336327"/>
            <a:ext cx="17049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E84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PROJECT DOMAIN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200525" y="5498252"/>
            <a:ext cx="1704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Deep Learning Clinical AI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286500" y="5336327"/>
            <a:ext cx="17049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E84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MIDTERM EVALUATION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6286500" y="5498252"/>
            <a:ext cx="17049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F87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July 10, 2026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581025" y="485775"/>
            <a:ext cx="11029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F0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GSOC 2026 · ML4SCI</a:t>
            </a:r>
            <a:r>
              <a:rPr lang="en-US" sz="975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PREDICT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581025" y="742950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581025" y="6315075"/>
            <a:ext cx="1102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 · GSOC 2026 · ML4SCI </a:t>
            </a:r>
            <a:r>
              <a:rPr lang="en-US" sz="900" b="0" i="0" u="none" strike="noStrike" cap="none">
                <a:solidFill>
                  <a:srgbClr val="00FF8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02" y="575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05198"/>
            <a:ext cx="5372100" cy="3133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305198"/>
            <a:ext cx="5372100" cy="31332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96050" y="3760440"/>
            <a:ext cx="4876800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38200" y="2543323"/>
            <a:ext cx="512064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Pipeline Phase Progress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38200" y="2933848"/>
            <a:ext cx="487680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Establishing clean transformations from clinical raw formats to optimized deep training loops.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496050" y="2543323"/>
            <a:ext cx="512064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Pending Deep Work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066800" y="3562498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DICOM + XML → NIfTI + Masks:</a:t>
            </a:r>
            <a:r>
              <a:rPr lang="en-US" sz="1200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 Cleanly integrated &amp; processed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066800" y="3890069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Exploratory Data Analysis:</a:t>
            </a:r>
            <a:r>
              <a:rPr lang="en-US" sz="1200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 Verified spacing properties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066800" y="4217640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Dataset Cleaning &amp; Splitting:</a:t>
            </a:r>
            <a:r>
              <a:rPr lang="en-US" sz="1200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 Extracted reliable targets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066800" y="4545210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Limitation Analysis:</a:t>
            </a:r>
            <a:r>
              <a:rPr lang="en-US" sz="1200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 Characterized fillPoly subpixel caps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066800" y="4872781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3D UNet Baseline:</a:t>
            </a:r>
            <a:r>
              <a:rPr lang="en-US" sz="1200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 Trained Approach 1 (Binary)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724650" y="2933848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nnU-Net Implementation:</a:t>
            </a:r>
            <a:r>
              <a:rPr lang="en-US" sz="12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Direct comparative testing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724650" y="3261419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Hybrid Attention Model:</a:t>
            </a:r>
            <a:r>
              <a:rPr lang="en-US" sz="12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Target spatial weighting layers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648450" y="3912840"/>
            <a:ext cx="4572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Sprint Focus: Training on Approach 2 &amp; 3 label strategies.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838200" y="3581548"/>
            <a:ext cx="952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FF87"/>
                </a:solidFill>
                <a:latin typeface="Urbanist"/>
                <a:ea typeface="Urbanist"/>
                <a:cs typeface="Urbanist"/>
                <a:sym typeface="Urbanist"/>
              </a:rPr>
              <a:t>✔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838200" y="3909119"/>
            <a:ext cx="952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FF87"/>
                </a:solidFill>
                <a:latin typeface="Urbanist"/>
                <a:ea typeface="Urbanist"/>
                <a:cs typeface="Urbanist"/>
                <a:sym typeface="Urbanist"/>
              </a:rPr>
              <a:t>✔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838200" y="4236690"/>
            <a:ext cx="952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FF87"/>
                </a:solidFill>
                <a:latin typeface="Urbanist"/>
                <a:ea typeface="Urbanist"/>
                <a:cs typeface="Urbanist"/>
                <a:sym typeface="Urbanist"/>
              </a:rPr>
              <a:t>✔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838200" y="4564260"/>
            <a:ext cx="952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FF87"/>
                </a:solidFill>
                <a:latin typeface="Urbanist"/>
                <a:ea typeface="Urbanist"/>
                <a:cs typeface="Urbanist"/>
                <a:sym typeface="Urbanist"/>
              </a:rPr>
              <a:t>✔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38200" y="4891831"/>
            <a:ext cx="952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FF87"/>
                </a:solidFill>
                <a:latin typeface="Urbanist"/>
                <a:ea typeface="Urbanist"/>
                <a:cs typeface="Urbanist"/>
                <a:sym typeface="Urbanist"/>
              </a:rPr>
              <a:t>✔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496050" y="2952898"/>
            <a:ext cx="952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4757"/>
                </a:solidFill>
                <a:latin typeface="Urbanist"/>
                <a:ea typeface="Urbanist"/>
                <a:cs typeface="Urbanist"/>
                <a:sym typeface="Urbanist"/>
              </a:rPr>
              <a:t>⬡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496050" y="3280469"/>
            <a:ext cx="952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4757"/>
                </a:solidFill>
                <a:latin typeface="Urbanist"/>
                <a:ea typeface="Urbanist"/>
                <a:cs typeface="Urbanist"/>
                <a:sym typeface="Urbanist"/>
              </a:rPr>
              <a:t>⬡</a:t>
            </a:r>
            <a:endParaRPr/>
          </a:p>
        </p:txBody>
      </p:sp>
      <p:pic>
        <p:nvPicPr>
          <p:cNvPr id="125" name="Google Shape;12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48450" y="3941415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4"/>
          <p:cNvSpPr txBox="1"/>
          <p:nvPr/>
        </p:nvSpPr>
        <p:spPr>
          <a:xfrm>
            <a:off x="581025" y="485775"/>
            <a:ext cx="11029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F0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01 WHERE WE ARE</a:t>
            </a:r>
            <a:r>
              <a:rPr lang="en-US" sz="975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PREDICT</a:t>
            </a:r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581025" y="742950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723900" y="942975"/>
            <a:ext cx="1143142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GSOC PIPELINE </a:t>
            </a:r>
            <a:r>
              <a:rPr lang="en-US" sz="255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EXECUTION STATUS</a:t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581025" y="942975"/>
            <a:ext cx="38100" cy="390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581025" y="6315075"/>
            <a:ext cx="1102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 · GSOC 2026 · ML4SCI </a:t>
            </a:r>
            <a:r>
              <a:rPr lang="en-US" sz="900" b="0" i="0" u="none" strike="noStrike" cap="none">
                <a:solidFill>
                  <a:srgbClr val="00FF8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3265" y="2228850"/>
            <a:ext cx="4297709" cy="32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228850"/>
            <a:ext cx="6446490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067300"/>
            <a:ext cx="6446490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7560915" y="3197991"/>
            <a:ext cx="3992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High Scale Error Impact</a:t>
            </a:r>
            <a:endParaRPr sz="1700"/>
          </a:p>
        </p:txBody>
      </p:sp>
      <p:sp>
        <p:nvSpPr>
          <p:cNvPr id="140" name="Google Shape;140;p15"/>
          <p:cNvSpPr txBox="1"/>
          <p:nvPr/>
        </p:nvSpPr>
        <p:spPr>
          <a:xfrm>
            <a:off x="7560915" y="3509754"/>
            <a:ext cx="3802500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Smaller calcium targets are artificially magnified during fillPoly rasterization, resulting in up to </a:t>
            </a:r>
            <a:r>
              <a:rPr lang="en-US" sz="1250" b="1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79.4%</a:t>
            </a:r>
            <a:r>
              <a:rPr lang="en-US" sz="1250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 discrepancy against exact mathematical Shoelace coordinates.</a:t>
            </a:r>
            <a:endParaRPr sz="1600"/>
          </a:p>
        </p:txBody>
      </p:sp>
      <p:sp>
        <p:nvSpPr>
          <p:cNvPr id="141" name="Google Shape;141;p15"/>
          <p:cNvSpPr txBox="1"/>
          <p:nvPr/>
        </p:nvSpPr>
        <p:spPr>
          <a:xfrm>
            <a:off x="7461140" y="4714833"/>
            <a:ext cx="3802500" cy="1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Highlights the necessity of subpixel loss formulations.</a:t>
            </a:r>
            <a:endParaRPr/>
          </a:p>
        </p:txBody>
      </p:sp>
      <p:graphicFrame>
        <p:nvGraphicFramePr>
          <p:cNvPr id="142" name="Google Shape;142;p15"/>
          <p:cNvGraphicFramePr/>
          <p:nvPr>
            <p:extLst>
              <p:ext uri="{D42A27DB-BD31-4B8C-83A1-F6EECF244321}">
                <p14:modId xmlns:p14="http://schemas.microsoft.com/office/powerpoint/2010/main" val="2645521726"/>
              </p:ext>
            </p:extLst>
          </p:nvPr>
        </p:nvGraphicFramePr>
        <p:xfrm>
          <a:off x="590550" y="2238375"/>
          <a:ext cx="6427450" cy="2676475"/>
        </p:xfrm>
        <a:graphic>
          <a:graphicData uri="http://schemas.openxmlformats.org/drawingml/2006/table">
            <a:tbl>
              <a:tblPr firstRow="1" bandRow="1">
                <a:noFill/>
                <a:tableStyleId>{D6DA38F8-8CC2-4D40-BA6B-8F0355291950}</a:tableStyleId>
              </a:tblPr>
              <a:tblGrid>
                <a:gridCol w="1456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7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Patient Slice</a:t>
                      </a:r>
                      <a:endParaRPr sz="2000" b="1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Scale</a:t>
                      </a:r>
                      <a:endParaRPr sz="2000" b="1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fillPoly</a:t>
                      </a:r>
                      <a:endParaRPr sz="2000" b="1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>
                          <a:solidFill>
                            <a:schemeClr val="dk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XML (Shoelace)</a:t>
                      </a:r>
                      <a:endParaRPr sz="2000" b="1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cap="none" dirty="0">
                          <a:solidFill>
                            <a:schemeClr val="dk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Area Error</a:t>
                      </a:r>
                      <a:endParaRPr sz="2000" b="1" dirty="0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P0 (overall)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1.28×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34px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20.9px²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62.5%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P1 (z=12)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1.03×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28px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25.0px²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12.3%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P1 (z=19)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1.03×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16px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15.0px²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7.0%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P10 (z=9)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1.18×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32px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20.0px²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60.4%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1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P10 (z=10)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1.18×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42px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23.4px²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25" b="0" i="0" u="none" strike="noStrike" cap="none" dirty="0">
                          <a:solidFill>
                            <a:schemeClr val="lt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79.4%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3" name="Google Shape;143;p15"/>
          <p:cNvSpPr txBox="1"/>
          <p:nvPr/>
        </p:nvSpPr>
        <p:spPr>
          <a:xfrm>
            <a:off x="704850" y="5191125"/>
            <a:ext cx="619884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FF475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"This is a label-quality ceiling, not a model ceiling."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590550" y="2647950"/>
            <a:ext cx="145658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2047130" y="2647950"/>
            <a:ext cx="889843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2936974" y="2647950"/>
            <a:ext cx="106546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4002434" y="2647950"/>
            <a:ext cx="167759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5680025" y="2647950"/>
            <a:ext cx="1337964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/>
          <p:nvPr/>
        </p:nvSpPr>
        <p:spPr>
          <a:xfrm>
            <a:off x="590550" y="3100387"/>
            <a:ext cx="145658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2047130" y="3100387"/>
            <a:ext cx="889843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2936974" y="3100387"/>
            <a:ext cx="106546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4002434" y="3100387"/>
            <a:ext cx="167759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5680025" y="3100387"/>
            <a:ext cx="1337964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590550" y="3552825"/>
            <a:ext cx="145658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2047130" y="3552825"/>
            <a:ext cx="889843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2936974" y="3552825"/>
            <a:ext cx="106546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4002434" y="3552825"/>
            <a:ext cx="167759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5680025" y="3552825"/>
            <a:ext cx="1337964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590550" y="4005262"/>
            <a:ext cx="145658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2047130" y="4005262"/>
            <a:ext cx="889843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2936974" y="4005262"/>
            <a:ext cx="106546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4002434" y="4005262"/>
            <a:ext cx="167759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5680025" y="4005262"/>
            <a:ext cx="1337964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590550" y="4457700"/>
            <a:ext cx="145658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2047130" y="4457700"/>
            <a:ext cx="889843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2936974" y="4457700"/>
            <a:ext cx="106546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4002434" y="4457700"/>
            <a:ext cx="167759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5680025" y="4457700"/>
            <a:ext cx="1337964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581025" y="485775"/>
            <a:ext cx="11029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F0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03 LIMITATION ANALYSIS</a:t>
            </a:r>
            <a:r>
              <a:rPr lang="en-US" sz="975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PREDICT</a:t>
            </a:r>
            <a:endParaRPr/>
          </a:p>
        </p:txBody>
      </p:sp>
      <p:sp>
        <p:nvSpPr>
          <p:cNvPr id="170" name="Google Shape;170;p15"/>
          <p:cNvSpPr/>
          <p:nvPr/>
        </p:nvSpPr>
        <p:spPr>
          <a:xfrm>
            <a:off x="581025" y="742950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723900" y="942975"/>
            <a:ext cx="1143142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LABEL-QUALITY </a:t>
            </a:r>
            <a:r>
              <a:rPr lang="en-US" sz="255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FLOOR &amp; CEILING</a:t>
            </a:r>
            <a:endParaRPr/>
          </a:p>
        </p:txBody>
      </p:sp>
      <p:sp>
        <p:nvSpPr>
          <p:cNvPr id="172" name="Google Shape;172;p15"/>
          <p:cNvSpPr/>
          <p:nvPr/>
        </p:nvSpPr>
        <p:spPr>
          <a:xfrm>
            <a:off x="581025" y="942975"/>
            <a:ext cx="38100" cy="390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581025" y="6315075"/>
            <a:ext cx="1102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 · GSOC 2026 · ML4SCI </a:t>
            </a:r>
            <a:r>
              <a:rPr lang="en-US" sz="900" b="0" i="0" u="none" strike="noStrike" cap="none">
                <a:solidFill>
                  <a:srgbClr val="00FF8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772025"/>
            <a:ext cx="1102995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466975"/>
            <a:ext cx="21145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09875" y="2466975"/>
            <a:ext cx="21145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38725" y="2466975"/>
            <a:ext cx="21145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267575" y="2466975"/>
            <a:ext cx="21145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96425" y="2466975"/>
            <a:ext cx="21145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6750" y="2781300"/>
            <a:ext cx="19431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895600" y="2781300"/>
            <a:ext cx="19431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24450" y="2781300"/>
            <a:ext cx="19431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353300" y="2781300"/>
            <a:ext cx="19431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6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582150" y="2781300"/>
            <a:ext cx="19431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6"/>
          <p:cNvSpPr txBox="1"/>
          <p:nvPr/>
        </p:nvSpPr>
        <p:spPr>
          <a:xfrm>
            <a:off x="733425" y="4924425"/>
            <a:ext cx="107251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Live Discussion Walkthrough:</a:t>
            </a:r>
            <a:r>
              <a:rPr lang="en-US" sz="1050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 Examining how discrete raster borders inflate area calculation on micro-calcium spots compared to precise XML subpixel math.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666750" y="2552700"/>
            <a:ext cx="1943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F0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1. RAW CT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2895600" y="2552700"/>
            <a:ext cx="1943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F0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2. FILLPOLY MASK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5124450" y="2552700"/>
            <a:ext cx="1943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F0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3. XML SUBPIXEL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7353300" y="2552700"/>
            <a:ext cx="1943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0F0FF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4. OVERLAY MAP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9582150" y="2552700"/>
            <a:ext cx="19431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FF4757"/>
                </a:solidFill>
                <a:latin typeface="JetBrains Mono Medium"/>
                <a:ea typeface="JetBrains Mono Medium"/>
                <a:cs typeface="JetBrains Mono Medium"/>
                <a:sym typeface="JetBrains Mono Medium"/>
              </a:rPr>
              <a:t>5. ERROR DELTA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581025" y="485775"/>
            <a:ext cx="11029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F0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04 VISUAL EVIDENCE</a:t>
            </a:r>
            <a:r>
              <a:rPr lang="en-US" sz="975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PREDICT</a:t>
            </a:r>
            <a:endParaRPr/>
          </a:p>
        </p:txBody>
      </p:sp>
      <p:sp>
        <p:nvSpPr>
          <p:cNvPr id="197" name="Google Shape;197;p16"/>
          <p:cNvSpPr/>
          <p:nvPr/>
        </p:nvSpPr>
        <p:spPr>
          <a:xfrm>
            <a:off x="581025" y="742950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723900" y="942975"/>
            <a:ext cx="1143142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VISUALIZING </a:t>
            </a:r>
            <a:r>
              <a:rPr lang="en-US" sz="255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SEGMENTATION BIAS</a:t>
            </a:r>
            <a:endParaRPr/>
          </a:p>
        </p:txBody>
      </p:sp>
      <p:sp>
        <p:nvSpPr>
          <p:cNvPr id="199" name="Google Shape;199;p16"/>
          <p:cNvSpPr/>
          <p:nvPr/>
        </p:nvSpPr>
        <p:spPr>
          <a:xfrm>
            <a:off x="581025" y="942975"/>
            <a:ext cx="38100" cy="390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581025" y="6315075"/>
            <a:ext cx="1102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 · GSOC 2026 · ML4SCI </a:t>
            </a:r>
            <a:r>
              <a:rPr lang="en-US" sz="900" b="0" i="0" u="none" strike="noStrike" cap="none">
                <a:solidFill>
                  <a:srgbClr val="00FF8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05</a:t>
            </a:r>
            <a:endParaRPr/>
          </a:p>
        </p:txBody>
      </p:sp>
      <p:pic>
        <p:nvPicPr>
          <p:cNvPr id="201" name="Google Shape;201;p16" title="v4_P0_z034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81025" y="1524000"/>
            <a:ext cx="11029949" cy="453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87525"/>
            <a:ext cx="5372100" cy="256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587525"/>
            <a:ext cx="5372100" cy="2568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96050" y="4527500"/>
            <a:ext cx="48768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 txBox="1"/>
          <p:nvPr/>
        </p:nvSpPr>
        <p:spPr>
          <a:xfrm>
            <a:off x="838200" y="3586013"/>
            <a:ext cx="512064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PrediCT_Strategies.html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838200" y="3976553"/>
            <a:ext cx="50523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Interactive playground inspecting border pixel evaluation across 3 core segmentation label approaches: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838200" y="4719488"/>
            <a:ext cx="4876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F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Binary Standard ➔ XML Upsampled ➔ Subpixel Coverage</a:t>
            </a:r>
            <a:endParaRPr/>
          </a:p>
        </p:txBody>
      </p:sp>
      <p:pic>
        <p:nvPicPr>
          <p:cNvPr id="213" name="Google Shape;21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38200" y="2900213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 txBox="1"/>
          <p:nvPr/>
        </p:nvSpPr>
        <p:spPr>
          <a:xfrm>
            <a:off x="6496050" y="2825650"/>
            <a:ext cx="512064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Live Walkthrough Objectives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6496050" y="3216175"/>
            <a:ext cx="48768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We will inspect edge transition behaviors in the browser sandbox to analyze: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7448550" y="4651325"/>
            <a:ext cx="297180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F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Ready to Switch to Local Browser Window</a:t>
            </a:r>
            <a:endParaRPr/>
          </a:p>
        </p:txBody>
      </p:sp>
      <p:sp>
        <p:nvSpPr>
          <p:cNvPr id="217" name="Google Shape;217;p17"/>
          <p:cNvSpPr txBox="1"/>
          <p:nvPr/>
        </p:nvSpPr>
        <p:spPr>
          <a:xfrm>
            <a:off x="6724650" y="3544788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Binary quantization dropouts on boundaries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6724650" y="3872358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Upsampling interpolation errors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6724650" y="4199929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Soft fractional target calculations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6496050" y="3582888"/>
            <a:ext cx="571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6496050" y="3910458"/>
            <a:ext cx="571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6496050" y="4238029"/>
            <a:ext cx="571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581025" y="485775"/>
            <a:ext cx="11029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F0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05 LIVE DEMO</a:t>
            </a:r>
            <a:r>
              <a:rPr lang="en-US" sz="975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PREDICT</a:t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581025" y="742950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723900" y="942975"/>
            <a:ext cx="1143142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LIVE INTERACTIVE </a:t>
            </a:r>
            <a:r>
              <a:rPr lang="en-US" sz="255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DEMO OVERVIEW</a:t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>
            <a:off x="581025" y="942975"/>
            <a:ext cx="38100" cy="390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7"/>
          <p:cNvSpPr txBox="1"/>
          <p:nvPr/>
        </p:nvSpPr>
        <p:spPr>
          <a:xfrm>
            <a:off x="581025" y="6315075"/>
            <a:ext cx="1102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 · GSOC 2026 · ML4SCI </a:t>
            </a:r>
            <a:r>
              <a:rPr lang="en-US" sz="900" b="0" i="0" u="none" strike="noStrike" cap="none">
                <a:solidFill>
                  <a:srgbClr val="00FF8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D3B97F-67C0-959E-2A01-7DCA03212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941"/>
            <a:ext cx="12192000" cy="669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995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1854993"/>
            <a:ext cx="5372100" cy="4033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1854993"/>
            <a:ext cx="2614612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38512" y="1854993"/>
            <a:ext cx="2614612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978943"/>
            <a:ext cx="2614612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338512" y="2978943"/>
            <a:ext cx="2614612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8"/>
          <p:cNvSpPr txBox="1"/>
          <p:nvPr/>
        </p:nvSpPr>
        <p:spPr>
          <a:xfrm>
            <a:off x="752475" y="4255293"/>
            <a:ext cx="50484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 b="1" i="0" u="none" strike="noStrike" cap="none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Convergence Trigger:</a:t>
            </a:r>
            <a:r>
              <a:rPr lang="en-US" sz="1450" b="0" i="0" u="none" strike="noStrike" cap="none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 Sharp performance phase transition occurs around </a:t>
            </a:r>
            <a:r>
              <a:rPr lang="en-US" sz="1450" b="1" i="0" u="none" strike="noStrike" cap="none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Epoch 94</a:t>
            </a:r>
            <a:r>
              <a:rPr lang="en-US" sz="1450" b="0" i="0" u="none" strike="noStrike" cap="none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. The model successfully breaks out of the default all-background prediction basin.</a:t>
            </a:r>
            <a:endParaRPr sz="1800" dirty="0"/>
          </a:p>
        </p:txBody>
      </p:sp>
      <p:sp>
        <p:nvSpPr>
          <p:cNvPr id="239" name="Google Shape;239;p18"/>
          <p:cNvSpPr txBox="1"/>
          <p:nvPr/>
        </p:nvSpPr>
        <p:spPr>
          <a:xfrm>
            <a:off x="781050" y="2055018"/>
            <a:ext cx="221456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0.61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781050" y="2502693"/>
            <a:ext cx="221456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84A3"/>
                </a:solidFill>
                <a:latin typeface="Urbanist"/>
                <a:ea typeface="Urbanist"/>
                <a:cs typeface="Urbanist"/>
                <a:sym typeface="Urbanist"/>
              </a:rPr>
              <a:t>MEAN DICE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3538537" y="2055018"/>
            <a:ext cx="221456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F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0.69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3538537" y="2502693"/>
            <a:ext cx="221456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84A3"/>
                </a:solidFill>
                <a:latin typeface="Urbanist"/>
                <a:ea typeface="Urbanist"/>
                <a:cs typeface="Urbanist"/>
                <a:sym typeface="Urbanist"/>
              </a:rPr>
              <a:t>MEDIAN DICE</a:t>
            </a:r>
            <a:endParaRPr/>
          </a:p>
        </p:txBody>
      </p:sp>
      <p:sp>
        <p:nvSpPr>
          <p:cNvPr id="243" name="Google Shape;243;p18"/>
          <p:cNvSpPr txBox="1"/>
          <p:nvPr/>
        </p:nvSpPr>
        <p:spPr>
          <a:xfrm>
            <a:off x="781050" y="3178968"/>
            <a:ext cx="221456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F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110/</a:t>
            </a:r>
            <a:r>
              <a:rPr lang="en-US" sz="2000" b="1" i="0" u="none" strike="noStrike" cap="none" dirty="0">
                <a:solidFill>
                  <a:srgbClr val="00F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140</a:t>
            </a:r>
            <a:endParaRPr dirty="0"/>
          </a:p>
        </p:txBody>
      </p:sp>
      <p:sp>
        <p:nvSpPr>
          <p:cNvPr id="244" name="Google Shape;244;p18"/>
          <p:cNvSpPr txBox="1"/>
          <p:nvPr/>
        </p:nvSpPr>
        <p:spPr>
          <a:xfrm>
            <a:off x="781050" y="3705269"/>
            <a:ext cx="221456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6E84A3"/>
                </a:solidFill>
                <a:latin typeface="Urbanist"/>
                <a:ea typeface="Urbanist"/>
                <a:cs typeface="Urbanist"/>
                <a:sym typeface="Urbanist"/>
              </a:rPr>
              <a:t>BEST EPOCH</a:t>
            </a:r>
            <a:endParaRPr dirty="0"/>
          </a:p>
        </p:txBody>
      </p:sp>
      <p:sp>
        <p:nvSpPr>
          <p:cNvPr id="245" name="Google Shape;245;p18"/>
          <p:cNvSpPr txBox="1"/>
          <p:nvPr/>
        </p:nvSpPr>
        <p:spPr>
          <a:xfrm>
            <a:off x="3338512" y="3178968"/>
            <a:ext cx="2614612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F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284m </a:t>
            </a:r>
            <a:r>
              <a:rPr lang="en-US" sz="1600" b="1" i="0" u="none" strike="noStrike" cap="none" dirty="0">
                <a:solidFill>
                  <a:srgbClr val="00F0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(4H 44M)</a:t>
            </a:r>
            <a:endParaRPr dirty="0"/>
          </a:p>
        </p:txBody>
      </p:sp>
      <p:sp>
        <p:nvSpPr>
          <p:cNvPr id="246" name="Google Shape;246;p18"/>
          <p:cNvSpPr txBox="1"/>
          <p:nvPr/>
        </p:nvSpPr>
        <p:spPr>
          <a:xfrm>
            <a:off x="3524717" y="3690937"/>
            <a:ext cx="2214562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 dirty="0">
                <a:solidFill>
                  <a:srgbClr val="6E84A3"/>
                </a:solidFill>
                <a:latin typeface="Urbanist"/>
                <a:ea typeface="Urbanist"/>
                <a:cs typeface="Urbanist"/>
                <a:sym typeface="Urbanist"/>
              </a:rPr>
              <a:t>TRAIN TIME</a:t>
            </a:r>
            <a:endParaRPr dirty="0"/>
          </a:p>
        </p:txBody>
      </p:sp>
      <p:sp>
        <p:nvSpPr>
          <p:cNvPr id="247" name="Google Shape;247;p18"/>
          <p:cNvSpPr txBox="1"/>
          <p:nvPr/>
        </p:nvSpPr>
        <p:spPr>
          <a:xfrm>
            <a:off x="581025" y="485775"/>
            <a:ext cx="11029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F0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06 APPROACH 1 — BINARY</a:t>
            </a:r>
            <a:r>
              <a:rPr lang="en-US" sz="975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PREDICT</a:t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581025" y="742950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723900" y="942975"/>
            <a:ext cx="1143142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3D UNET BASELINE </a:t>
            </a:r>
            <a:r>
              <a:rPr lang="en-US" sz="255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PERFORMANCE</a:t>
            </a:r>
            <a:endParaRPr/>
          </a:p>
        </p:txBody>
      </p:sp>
      <p:sp>
        <p:nvSpPr>
          <p:cNvPr id="250" name="Google Shape;250;p18"/>
          <p:cNvSpPr/>
          <p:nvPr/>
        </p:nvSpPr>
        <p:spPr>
          <a:xfrm>
            <a:off x="581025" y="942975"/>
            <a:ext cx="38100" cy="390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581025" y="6315075"/>
            <a:ext cx="1102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 · GSOC 2026 · ML4SCI </a:t>
            </a:r>
            <a:r>
              <a:rPr lang="en-US" sz="900" b="0" i="0" u="none" strike="noStrike" cap="none">
                <a:solidFill>
                  <a:srgbClr val="00FF8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07</a:t>
            </a:r>
            <a:endParaRPr/>
          </a:p>
        </p:txBody>
      </p:sp>
      <p:pic>
        <p:nvPicPr>
          <p:cNvPr id="252" name="Google Shape;252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96025" y="1855000"/>
            <a:ext cx="5396379" cy="39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9"/>
          <p:cNvSpPr/>
          <p:nvPr/>
        </p:nvSpPr>
        <p:spPr>
          <a:xfrm>
            <a:off x="590550" y="2836068"/>
            <a:ext cx="2752725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8298060" y="2836068"/>
            <a:ext cx="3303389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590550" y="3288506"/>
            <a:ext cx="2752725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3343275" y="3288506"/>
            <a:ext cx="4954785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8298060" y="3288506"/>
            <a:ext cx="3303389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590550" y="3740943"/>
            <a:ext cx="2752725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3343275" y="3740943"/>
            <a:ext cx="4954785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8298060" y="3740943"/>
            <a:ext cx="3303389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590550" y="4407693"/>
            <a:ext cx="2752725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9"/>
          <p:cNvSpPr/>
          <p:nvPr/>
        </p:nvSpPr>
        <p:spPr>
          <a:xfrm>
            <a:off x="3343275" y="4407693"/>
            <a:ext cx="4954785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8298060" y="4407693"/>
            <a:ext cx="3303389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590550" y="4860131"/>
            <a:ext cx="2752725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3343275" y="4860131"/>
            <a:ext cx="4954785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8298060" y="4860131"/>
            <a:ext cx="3303389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581025" y="485775"/>
            <a:ext cx="11029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F0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07 HOW WE GOT THERE</a:t>
            </a:r>
            <a:r>
              <a:rPr lang="en-US" sz="975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PREDICT</a:t>
            </a:r>
            <a:endParaRPr/>
          </a:p>
        </p:txBody>
      </p:sp>
      <p:sp>
        <p:nvSpPr>
          <p:cNvPr id="273" name="Google Shape;273;p19"/>
          <p:cNvSpPr/>
          <p:nvPr/>
        </p:nvSpPr>
        <p:spPr>
          <a:xfrm>
            <a:off x="581025" y="742950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 txBox="1"/>
          <p:nvPr/>
        </p:nvSpPr>
        <p:spPr>
          <a:xfrm>
            <a:off x="723900" y="942975"/>
            <a:ext cx="1143142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CORE ARCHITECTURE </a:t>
            </a:r>
            <a:r>
              <a:rPr lang="en-US" sz="255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ENGINEERING</a:t>
            </a:r>
            <a:endParaRPr/>
          </a:p>
        </p:txBody>
      </p:sp>
      <p:sp>
        <p:nvSpPr>
          <p:cNvPr id="275" name="Google Shape;275;p19"/>
          <p:cNvSpPr/>
          <p:nvPr/>
        </p:nvSpPr>
        <p:spPr>
          <a:xfrm>
            <a:off x="581025" y="942975"/>
            <a:ext cx="38100" cy="390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9"/>
          <p:cNvSpPr txBox="1"/>
          <p:nvPr/>
        </p:nvSpPr>
        <p:spPr>
          <a:xfrm>
            <a:off x="581025" y="6315075"/>
            <a:ext cx="1102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 · GSOC 2026 · ML4SCI </a:t>
            </a:r>
            <a:r>
              <a:rPr lang="en-US" sz="900" b="0" i="0" u="none" strike="noStrike" cap="none">
                <a:solidFill>
                  <a:srgbClr val="00FF8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08</a:t>
            </a:r>
            <a:endParaRPr/>
          </a:p>
        </p:txBody>
      </p:sp>
      <p:graphicFrame>
        <p:nvGraphicFramePr>
          <p:cNvPr id="277" name="Google Shape;277;p19"/>
          <p:cNvGraphicFramePr/>
          <p:nvPr>
            <p:extLst>
              <p:ext uri="{D42A27DB-BD31-4B8C-83A1-F6EECF244321}">
                <p14:modId xmlns:p14="http://schemas.microsoft.com/office/powerpoint/2010/main" val="1108133209"/>
              </p:ext>
            </p:extLst>
          </p:nvPr>
        </p:nvGraphicFramePr>
        <p:xfrm>
          <a:off x="590550" y="2040743"/>
          <a:ext cx="11010900" cy="3604950"/>
        </p:xfrm>
        <a:graphic>
          <a:graphicData uri="http://schemas.openxmlformats.org/drawingml/2006/table">
            <a:tbl>
              <a:tblPr firstRow="1" bandRow="1">
                <a:noFill/>
                <a:tableStyleId>{D6DA38F8-8CC2-4D40-BA6B-8F0355291950}</a:tableStyleId>
              </a:tblPr>
              <a:tblGrid>
                <a:gridCol w="275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4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i="0" u="none" strike="noStrike" cap="non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Decision Made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i="0" u="none" strike="noStrike" cap="non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Underlying Technical Justification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75" i="0" u="none" strike="noStrike" cap="none">
                          <a:solidFill>
                            <a:schemeClr val="dk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Measured Impact</a:t>
                      </a:r>
                      <a:endParaRPr sz="2000"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D1D8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HU Window [0, 1200]</a:t>
                      </a:r>
                      <a:endParaRPr sz="17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D1D8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Prevent contrast suppression of dense calcified plaque artifacts.</a:t>
                      </a:r>
                      <a:endParaRPr sz="17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00FF87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0.25 ➔ 0.61 Dice</a:t>
                      </a:r>
                      <a:endParaRPr sz="17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D1D8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Tversky Loss</a:t>
                      </a:r>
                      <a:endParaRPr sz="17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D1D8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Focus learning objective on penalizing false negatives (high-cost misses).</a:t>
                      </a:r>
                      <a:endParaRPr sz="17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>
                          <a:solidFill>
                            <a:srgbClr val="00FF87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Guaranteed Convergence</a:t>
                      </a:r>
                      <a:endParaRPr sz="170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D1D8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bfloat16 precision</a:t>
                      </a:r>
                      <a:endParaRPr sz="17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D1D8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Avoid immediate fp16 numerical bounds overflow causing training </a:t>
                      </a:r>
                      <a:r>
                        <a:rPr lang="en-US" sz="1425" b="0" i="0" u="none" strike="noStrike" cap="none" dirty="0" err="1">
                          <a:solidFill>
                            <a:srgbClr val="D1D8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NaN</a:t>
                      </a:r>
                      <a:r>
                        <a:rPr lang="en-US" sz="1425" b="0" i="0" u="none" strike="noStrike" cap="none" dirty="0">
                          <a:solidFill>
                            <a:srgbClr val="D1D8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losses.</a:t>
                      </a:r>
                      <a:endParaRPr sz="17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 err="1">
                          <a:solidFill>
                            <a:srgbClr val="00FF87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NaNs</a:t>
                      </a:r>
                      <a:r>
                        <a:rPr lang="en-US" sz="1425" b="0" i="0" u="none" strike="noStrike" cap="none" dirty="0">
                          <a:solidFill>
                            <a:srgbClr val="00FF87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 Eliminated</a:t>
                      </a:r>
                      <a:endParaRPr sz="17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 err="1">
                          <a:solidFill>
                            <a:srgbClr val="D1D8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PersistentDataset</a:t>
                      </a:r>
                      <a:r>
                        <a:rPr lang="en-US" sz="1425" b="0" i="0" u="none" strike="noStrike" cap="none" dirty="0">
                          <a:solidFill>
                            <a:srgbClr val="D1D8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Cache</a:t>
                      </a:r>
                      <a:endParaRPr sz="17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D1D8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Bypass process-crashing overhead of multi-gigabyte RAM-caching.</a:t>
                      </a:r>
                      <a:endParaRPr sz="17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00FF87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RAM Overload Reduction</a:t>
                      </a:r>
                      <a:endParaRPr sz="17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D1D8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Persistent Workers</a:t>
                      </a:r>
                      <a:endParaRPr sz="17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D1D8E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Resolve major CPU bottleneck issues feeding hungry GPU architecture.</a:t>
                      </a:r>
                      <a:endParaRPr sz="17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25" b="0" i="0" u="none" strike="noStrike" cap="none" dirty="0">
                          <a:solidFill>
                            <a:srgbClr val="00FF87"/>
                          </a:solidFill>
                          <a:latin typeface="Urbanist Medium"/>
                          <a:ea typeface="Urbanist Medium"/>
                          <a:cs typeface="Urbanist Medium"/>
                          <a:sym typeface="Urbanist Medium"/>
                        </a:rPr>
                        <a:t>125s ➔ 88s per Epoch</a:t>
                      </a:r>
                      <a:endParaRPr sz="170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C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627262"/>
            <a:ext cx="5372100" cy="2489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627262"/>
            <a:ext cx="5372100" cy="248929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0"/>
          <p:cNvSpPr txBox="1"/>
          <p:nvPr/>
        </p:nvSpPr>
        <p:spPr>
          <a:xfrm>
            <a:off x="838200" y="2928937"/>
            <a:ext cx="48768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FF87"/>
                </a:solidFill>
                <a:latin typeface="Urbanist"/>
                <a:ea typeface="Urbanist"/>
                <a:cs typeface="Urbanist"/>
                <a:sym typeface="Urbanist"/>
              </a:rPr>
              <a:t>0.69 Median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838200" y="3481387"/>
            <a:ext cx="512064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Most Scans Segment Well</a:t>
            </a:r>
            <a:endParaRPr/>
          </a:p>
        </p:txBody>
      </p:sp>
      <p:sp>
        <p:nvSpPr>
          <p:cNvPr id="287" name="Google Shape;287;p20"/>
          <p:cNvSpPr txBox="1"/>
          <p:nvPr/>
        </p:nvSpPr>
        <p:spPr>
          <a:xfrm>
            <a:off x="838200" y="3871912"/>
            <a:ext cx="48768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The median score (0.69) sitting well above the mean (0.61) indicates excellent, robust fits on standard clinical data.</a:t>
            </a:r>
            <a:endParaRPr dirty="0"/>
          </a:p>
        </p:txBody>
      </p:sp>
      <p:sp>
        <p:nvSpPr>
          <p:cNvPr id="288" name="Google Shape;288;p20"/>
          <p:cNvSpPr txBox="1"/>
          <p:nvPr/>
        </p:nvSpPr>
        <p:spPr>
          <a:xfrm>
            <a:off x="838200" y="4414837"/>
            <a:ext cx="4876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6E84A3"/>
                </a:solidFill>
                <a:latin typeface="Urbanist"/>
                <a:ea typeface="Urbanist"/>
                <a:cs typeface="Urbanist"/>
                <a:sym typeface="Urbanist"/>
              </a:rPr>
              <a:t>A tough minority of low-calcium outlier cases heavily drags the absolute mean down.</a:t>
            </a:r>
            <a:endParaRPr dirty="0"/>
          </a:p>
        </p:txBody>
      </p:sp>
      <p:sp>
        <p:nvSpPr>
          <p:cNvPr id="289" name="Google Shape;289;p20"/>
          <p:cNvSpPr txBox="1"/>
          <p:nvPr/>
        </p:nvSpPr>
        <p:spPr>
          <a:xfrm>
            <a:off x="6496050" y="2865387"/>
            <a:ext cx="512064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Full-Volume Inference Constraints</a:t>
            </a:r>
            <a:endParaRPr/>
          </a:p>
        </p:txBody>
      </p:sp>
      <p:sp>
        <p:nvSpPr>
          <p:cNvPr id="290" name="Google Shape;290;p20"/>
          <p:cNvSpPr txBox="1"/>
          <p:nvPr/>
        </p:nvSpPr>
        <p:spPr>
          <a:xfrm>
            <a:off x="6724650" y="3255912"/>
            <a:ext cx="464820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No ROI Cropping:</a:t>
            </a:r>
            <a:r>
              <a:rPr lang="en-US" sz="1200" b="0" i="0" u="none" strike="noStrike" cap="none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 Inference occurs over the complete thorax. The model cannot take cheats from localized cardiovascular Crops.</a:t>
            </a:r>
            <a:endParaRPr dirty="0"/>
          </a:p>
        </p:txBody>
      </p:sp>
      <p:sp>
        <p:nvSpPr>
          <p:cNvPr id="291" name="Google Shape;291;p20"/>
          <p:cNvSpPr txBox="1"/>
          <p:nvPr/>
        </p:nvSpPr>
        <p:spPr>
          <a:xfrm>
            <a:off x="6724650" y="3796754"/>
            <a:ext cx="464820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Rigorous Rejection Demands:</a:t>
            </a:r>
            <a:r>
              <a:rPr lang="en-US" sz="1200" b="0" i="0" u="none" strike="noStrike" cap="none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 The pipeline tests target selectivity strictly, forcing the network to reject every surrounding rib, sternum, and vertebra.</a:t>
            </a:r>
            <a:endParaRPr dirty="0"/>
          </a:p>
        </p:txBody>
      </p:sp>
      <p:sp>
        <p:nvSpPr>
          <p:cNvPr id="292" name="Google Shape;292;p20"/>
          <p:cNvSpPr txBox="1"/>
          <p:nvPr/>
        </p:nvSpPr>
        <p:spPr>
          <a:xfrm>
            <a:off x="6724650" y="4550866"/>
            <a:ext cx="464820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Provides a highly honest, clinically accurate performance report.</a:t>
            </a:r>
            <a:endParaRPr dirty="0"/>
          </a:p>
        </p:txBody>
      </p:sp>
      <p:sp>
        <p:nvSpPr>
          <p:cNvPr id="293" name="Google Shape;293;p20"/>
          <p:cNvSpPr txBox="1"/>
          <p:nvPr/>
        </p:nvSpPr>
        <p:spPr>
          <a:xfrm>
            <a:off x="6496050" y="3294012"/>
            <a:ext cx="571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6496050" y="3834854"/>
            <a:ext cx="571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6496050" y="4588966"/>
            <a:ext cx="571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581025" y="485775"/>
            <a:ext cx="11029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F0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08 CREDIBILITY CHECK</a:t>
            </a:r>
            <a:r>
              <a:rPr lang="en-US" sz="975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PREDICT</a:t>
            </a:r>
            <a:endParaRPr/>
          </a:p>
        </p:txBody>
      </p:sp>
      <p:sp>
        <p:nvSpPr>
          <p:cNvPr id="297" name="Google Shape;297;p20"/>
          <p:cNvSpPr/>
          <p:nvPr/>
        </p:nvSpPr>
        <p:spPr>
          <a:xfrm>
            <a:off x="581025" y="742950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 txBox="1"/>
          <p:nvPr/>
        </p:nvSpPr>
        <p:spPr>
          <a:xfrm>
            <a:off x="723900" y="942975"/>
            <a:ext cx="1143142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TRANSPARENT PERFORMANCE </a:t>
            </a:r>
            <a:r>
              <a:rPr lang="en-US" sz="255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METRICS</a:t>
            </a:r>
            <a:endParaRPr/>
          </a:p>
        </p:txBody>
      </p:sp>
      <p:sp>
        <p:nvSpPr>
          <p:cNvPr id="299" name="Google Shape;299;p20"/>
          <p:cNvSpPr/>
          <p:nvPr/>
        </p:nvSpPr>
        <p:spPr>
          <a:xfrm>
            <a:off x="581025" y="942975"/>
            <a:ext cx="38100" cy="390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581025" y="6315075"/>
            <a:ext cx="1102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 · GSOC 2026 · ML4SCI </a:t>
            </a:r>
            <a:r>
              <a:rPr lang="en-US" sz="900" b="0" i="0" u="none" strike="noStrike" cap="none">
                <a:solidFill>
                  <a:srgbClr val="00FF8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30897" y="28162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5982" y="28162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81068" y="28162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56153" y="28162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631239" y="28162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1"/>
          <p:cNvSpPr/>
          <p:nvPr/>
        </p:nvSpPr>
        <p:spPr>
          <a:xfrm>
            <a:off x="581025" y="3144837"/>
            <a:ext cx="11030100" cy="19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581025" y="5495925"/>
            <a:ext cx="107061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0FF87"/>
                </a:solidFill>
                <a:latin typeface="Urbanist"/>
                <a:ea typeface="Urbanist"/>
                <a:cs typeface="Urbanist"/>
                <a:sym typeface="Urbanist"/>
              </a:rPr>
              <a:t>Upcoming Core Focus:</a:t>
            </a:r>
            <a:r>
              <a:rPr lang="en-US" sz="1300" b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 Compiling final Dice comparison table across Binary, Upsampled, and Coverage Fraction annotation maps.</a:t>
            </a:r>
            <a:endParaRPr sz="1300" b="1">
              <a:solidFill>
                <a:srgbClr val="00FF87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313" name="Google Shape;313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55811" y="28162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1"/>
          <p:cNvSpPr txBox="1"/>
          <p:nvPr/>
        </p:nvSpPr>
        <p:spPr>
          <a:xfrm>
            <a:off x="552450" y="3216278"/>
            <a:ext cx="1714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Baseline Trained</a:t>
            </a:r>
            <a:endParaRPr sz="1100" b="0" dirty="0">
              <a:solidFill>
                <a:srgbClr val="FFFFFF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552450" y="3400425"/>
            <a:ext cx="17145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>
                <a:solidFill>
                  <a:srgbClr val="6E84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Completed</a:t>
            </a:r>
            <a:endParaRPr sz="950" b="0">
              <a:solidFill>
                <a:srgbClr val="6E84A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2426018" y="3216278"/>
            <a:ext cx="1714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Label Gen Appr. 2/3</a:t>
            </a:r>
            <a:endParaRPr sz="1100" b="0" dirty="0">
              <a:solidFill>
                <a:srgbClr val="FFFFFF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2426018" y="3400425"/>
            <a:ext cx="17145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dirty="0">
                <a:solidFill>
                  <a:srgbClr val="6E84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June 26-28</a:t>
            </a:r>
            <a:endParaRPr sz="950" b="0" dirty="0">
              <a:solidFill>
                <a:srgbClr val="6E84A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4300538" y="3216278"/>
            <a:ext cx="1714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 err="1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UNet</a:t>
            </a:r>
            <a:r>
              <a:rPr lang="en-US" sz="1100" b="0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3-Strategy Run</a:t>
            </a:r>
            <a:endParaRPr sz="1100" b="0" dirty="0">
              <a:solidFill>
                <a:srgbClr val="FFFFFF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4300538" y="3400425"/>
            <a:ext cx="17145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dirty="0">
                <a:solidFill>
                  <a:srgbClr val="6E84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June 29-Jul 2</a:t>
            </a:r>
            <a:endParaRPr sz="950" b="0" dirty="0">
              <a:solidFill>
                <a:srgbClr val="6E84A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6176010" y="3216278"/>
            <a:ext cx="1714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Agatston Extraction</a:t>
            </a:r>
            <a:endParaRPr sz="1100" b="0" dirty="0">
              <a:solidFill>
                <a:srgbClr val="FFFFFF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6176010" y="3400425"/>
            <a:ext cx="17145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>
                <a:solidFill>
                  <a:srgbClr val="6E84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July 7-8</a:t>
            </a:r>
            <a:endParaRPr sz="950" b="0">
              <a:solidFill>
                <a:srgbClr val="6E84A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8050530" y="3216278"/>
            <a:ext cx="1714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Soft Scorer Dev</a:t>
            </a:r>
            <a:endParaRPr sz="1100" b="0">
              <a:solidFill>
                <a:srgbClr val="FFFFFF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8050530" y="3400425"/>
            <a:ext cx="17145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>
                <a:solidFill>
                  <a:srgbClr val="6E84A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July 8-9</a:t>
            </a:r>
            <a:endParaRPr sz="950" b="0">
              <a:solidFill>
                <a:srgbClr val="6E84A3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9926003" y="3216278"/>
            <a:ext cx="17145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>
                <a:solidFill>
                  <a:srgbClr val="FFFF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Midterm Deliverable</a:t>
            </a:r>
            <a:endParaRPr sz="1100" b="0">
              <a:solidFill>
                <a:srgbClr val="FFFFFF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9926003" y="3400425"/>
            <a:ext cx="1714500" cy="14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>
                <a:solidFill>
                  <a:srgbClr val="00FF8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July 10</a:t>
            </a:r>
            <a:endParaRPr sz="950" b="0">
              <a:solidFill>
                <a:srgbClr val="00FF87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pic>
        <p:nvPicPr>
          <p:cNvPr id="326" name="Google Shape;326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55824" y="2911475"/>
            <a:ext cx="1047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1"/>
          <p:cNvSpPr txBox="1"/>
          <p:nvPr/>
        </p:nvSpPr>
        <p:spPr>
          <a:xfrm>
            <a:off x="581025" y="485775"/>
            <a:ext cx="11030100" cy="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F0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10 ROADMAP</a:t>
            </a:r>
            <a:r>
              <a:rPr lang="en-US" sz="975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PREDICT</a:t>
            </a:r>
            <a:endParaRPr/>
          </a:p>
        </p:txBody>
      </p:sp>
      <p:sp>
        <p:nvSpPr>
          <p:cNvPr id="328" name="Google Shape;328;p21"/>
          <p:cNvSpPr/>
          <p:nvPr/>
        </p:nvSpPr>
        <p:spPr>
          <a:xfrm>
            <a:off x="581025" y="742950"/>
            <a:ext cx="11030100" cy="96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723900" y="942975"/>
            <a:ext cx="11431500" cy="455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60" b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PATH TO MIDTERM: </a:t>
            </a:r>
            <a:r>
              <a:rPr lang="en-US" sz="2960" b="1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JULY 10, 2026</a:t>
            </a:r>
            <a:endParaRPr sz="2960" b="1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581025" y="973050"/>
            <a:ext cx="38100" cy="3906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581025" y="6315075"/>
            <a:ext cx="11030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 · GSOC 2026 · ML4SCI </a:t>
            </a:r>
            <a:r>
              <a:rPr lang="en-US" sz="900" b="0" i="0" u="none" strike="noStrike" cap="none">
                <a:solidFill>
                  <a:srgbClr val="00FF8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597050"/>
            <a:ext cx="5372100" cy="254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597050"/>
            <a:ext cx="5372100" cy="254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10150" y="2835175"/>
            <a:ext cx="7048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2"/>
          <p:cNvSpPr txBox="1"/>
          <p:nvPr/>
        </p:nvSpPr>
        <p:spPr>
          <a:xfrm>
            <a:off x="838200" y="2835175"/>
            <a:ext cx="512064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Validation Dice Scores</a:t>
            </a:r>
            <a:endParaRPr/>
          </a:p>
        </p:txBody>
      </p:sp>
      <p:sp>
        <p:nvSpPr>
          <p:cNvPr id="341" name="Google Shape;341;p22"/>
          <p:cNvSpPr txBox="1"/>
          <p:nvPr/>
        </p:nvSpPr>
        <p:spPr>
          <a:xfrm>
            <a:off x="838200" y="3225700"/>
            <a:ext cx="5120700" cy="2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5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Our current performance is aligning smoothly to meet target criteria:</a:t>
            </a:r>
            <a:endParaRPr sz="1600"/>
          </a:p>
        </p:txBody>
      </p:sp>
      <p:pic>
        <p:nvPicPr>
          <p:cNvPr id="342" name="Google Shape;342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734675" y="2835175"/>
            <a:ext cx="6381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2"/>
          <p:cNvSpPr txBox="1"/>
          <p:nvPr/>
        </p:nvSpPr>
        <p:spPr>
          <a:xfrm>
            <a:off x="6496050" y="2835175"/>
            <a:ext cx="512064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Agatston Score MAE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6496050" y="3225700"/>
            <a:ext cx="4876800" cy="2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25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Evaluating predicted mass scoring bounds on test holdouts:</a:t>
            </a:r>
            <a:endParaRPr sz="1600"/>
          </a:p>
        </p:txBody>
      </p:sp>
      <p:sp>
        <p:nvSpPr>
          <p:cNvPr id="345" name="Google Shape;345;p22"/>
          <p:cNvSpPr txBox="1"/>
          <p:nvPr/>
        </p:nvSpPr>
        <p:spPr>
          <a:xfrm>
            <a:off x="1078230" y="3554312"/>
            <a:ext cx="4880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Minimum Acceptable:</a:t>
            </a:r>
            <a:r>
              <a:rPr lang="en-US" b="0" i="0" u="none" strike="noStrike" cap="none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 ≥ 0.65</a:t>
            </a:r>
            <a:endParaRPr sz="1600" dirty="0"/>
          </a:p>
        </p:txBody>
      </p:sp>
      <p:sp>
        <p:nvSpPr>
          <p:cNvPr id="346" name="Google Shape;346;p22"/>
          <p:cNvSpPr txBox="1"/>
          <p:nvPr/>
        </p:nvSpPr>
        <p:spPr>
          <a:xfrm>
            <a:off x="1078230" y="3881881"/>
            <a:ext cx="4880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Midterm Target Goal:</a:t>
            </a:r>
            <a:r>
              <a:rPr lang="en-US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 ≥ 0.75</a:t>
            </a:r>
            <a:endParaRPr sz="1600"/>
          </a:p>
        </p:txBody>
      </p:sp>
      <p:sp>
        <p:nvSpPr>
          <p:cNvPr id="347" name="Google Shape;347;p22"/>
          <p:cNvSpPr txBox="1"/>
          <p:nvPr/>
        </p:nvSpPr>
        <p:spPr>
          <a:xfrm>
            <a:off x="1078230" y="4209451"/>
            <a:ext cx="4880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0FF87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Current Status:</a:t>
            </a:r>
            <a:r>
              <a:rPr lang="en-US" b="0" i="0" u="none" strike="noStrike" cap="none">
                <a:solidFill>
                  <a:srgbClr val="00FF87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0.61 Mean / 0.69 Median</a:t>
            </a:r>
            <a:endParaRPr sz="1600"/>
          </a:p>
        </p:txBody>
      </p:sp>
      <p:sp>
        <p:nvSpPr>
          <p:cNvPr id="348" name="Google Shape;348;p22"/>
          <p:cNvSpPr txBox="1"/>
          <p:nvPr/>
        </p:nvSpPr>
        <p:spPr>
          <a:xfrm>
            <a:off x="6724650" y="3554313"/>
            <a:ext cx="4648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Minimum Acceptable:</a:t>
            </a:r>
            <a:r>
              <a:rPr lang="en-US" b="0" i="0" u="none" strike="noStrike" cap="none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 MAE &lt; 50</a:t>
            </a:r>
            <a:endParaRPr sz="1600"/>
          </a:p>
        </p:txBody>
      </p:sp>
      <p:sp>
        <p:nvSpPr>
          <p:cNvPr id="349" name="Google Shape;349;p22"/>
          <p:cNvSpPr txBox="1"/>
          <p:nvPr/>
        </p:nvSpPr>
        <p:spPr>
          <a:xfrm>
            <a:off x="6724650" y="3881883"/>
            <a:ext cx="4648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Midterm Target Goal:</a:t>
            </a:r>
            <a:r>
              <a:rPr lang="en-US" b="0" i="0" u="none" strike="noStrike" cap="none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 MAE &lt; 25</a:t>
            </a:r>
            <a:endParaRPr sz="1600" dirty="0"/>
          </a:p>
        </p:txBody>
      </p:sp>
      <p:sp>
        <p:nvSpPr>
          <p:cNvPr id="350" name="Google Shape;350;p22"/>
          <p:cNvSpPr txBox="1"/>
          <p:nvPr/>
        </p:nvSpPr>
        <p:spPr>
          <a:xfrm>
            <a:off x="6724650" y="4209454"/>
            <a:ext cx="46482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FFA500"/>
                </a:solidFill>
                <a:latin typeface="Urbanist Black"/>
                <a:ea typeface="Urbanist Black"/>
                <a:cs typeface="Urbanist Black"/>
                <a:sym typeface="Urbanist Black"/>
              </a:rPr>
              <a:t>Current Status:</a:t>
            </a:r>
            <a:r>
              <a:rPr lang="en-US" b="0" i="0" u="none" strike="noStrike" cap="none">
                <a:solidFill>
                  <a:srgbClr val="FFA5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Pending evaluation pipeline</a:t>
            </a:r>
            <a:endParaRPr sz="1600"/>
          </a:p>
        </p:txBody>
      </p:sp>
      <p:sp>
        <p:nvSpPr>
          <p:cNvPr id="351" name="Google Shape;351;p22"/>
          <p:cNvSpPr txBox="1"/>
          <p:nvPr/>
        </p:nvSpPr>
        <p:spPr>
          <a:xfrm>
            <a:off x="838200" y="3592413"/>
            <a:ext cx="571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352" name="Google Shape;352;p22"/>
          <p:cNvSpPr txBox="1"/>
          <p:nvPr/>
        </p:nvSpPr>
        <p:spPr>
          <a:xfrm>
            <a:off x="838200" y="3919983"/>
            <a:ext cx="571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353" name="Google Shape;353;p22"/>
          <p:cNvSpPr txBox="1"/>
          <p:nvPr/>
        </p:nvSpPr>
        <p:spPr>
          <a:xfrm>
            <a:off x="838200" y="4247554"/>
            <a:ext cx="571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00F0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■</a:t>
            </a:r>
            <a:endParaRPr/>
          </a:p>
        </p:txBody>
      </p:sp>
      <p:sp>
        <p:nvSpPr>
          <p:cNvPr id="354" name="Google Shape;354;p22"/>
          <p:cNvSpPr txBox="1"/>
          <p:nvPr/>
        </p:nvSpPr>
        <p:spPr>
          <a:xfrm>
            <a:off x="6496050" y="3592413"/>
            <a:ext cx="571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355" name="Google Shape;355;p22"/>
          <p:cNvSpPr txBox="1"/>
          <p:nvPr/>
        </p:nvSpPr>
        <p:spPr>
          <a:xfrm>
            <a:off x="6496050" y="3919983"/>
            <a:ext cx="571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356" name="Google Shape;356;p22"/>
          <p:cNvSpPr txBox="1"/>
          <p:nvPr/>
        </p:nvSpPr>
        <p:spPr>
          <a:xfrm>
            <a:off x="6496050" y="4247554"/>
            <a:ext cx="571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00F0FF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■</a:t>
            </a:r>
            <a:endParaRPr/>
          </a:p>
        </p:txBody>
      </p:sp>
      <p:sp>
        <p:nvSpPr>
          <p:cNvPr id="357" name="Google Shape;357;p22"/>
          <p:cNvSpPr txBox="1"/>
          <p:nvPr/>
        </p:nvSpPr>
        <p:spPr>
          <a:xfrm>
            <a:off x="581025" y="485775"/>
            <a:ext cx="11029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F0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11 EXPECTATIONS</a:t>
            </a:r>
            <a:r>
              <a:rPr lang="en-US" sz="975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PREDICT</a:t>
            </a:r>
            <a:endParaRPr/>
          </a:p>
        </p:txBody>
      </p:sp>
      <p:sp>
        <p:nvSpPr>
          <p:cNvPr id="358" name="Google Shape;358;p22"/>
          <p:cNvSpPr/>
          <p:nvPr/>
        </p:nvSpPr>
        <p:spPr>
          <a:xfrm>
            <a:off x="581025" y="742950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 txBox="1"/>
          <p:nvPr/>
        </p:nvSpPr>
        <p:spPr>
          <a:xfrm>
            <a:off x="723900" y="942975"/>
            <a:ext cx="1143142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TARGET METRICS </a:t>
            </a:r>
            <a:r>
              <a:rPr lang="en-US" sz="255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EVALUATION</a:t>
            </a:r>
            <a:endParaRPr/>
          </a:p>
        </p:txBody>
      </p:sp>
      <p:sp>
        <p:nvSpPr>
          <p:cNvPr id="360" name="Google Shape;360;p22"/>
          <p:cNvSpPr/>
          <p:nvPr/>
        </p:nvSpPr>
        <p:spPr>
          <a:xfrm>
            <a:off x="581025" y="942975"/>
            <a:ext cx="38100" cy="390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581025" y="6315075"/>
            <a:ext cx="1102995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 · GSOC 2026 · ML4SCI </a:t>
            </a:r>
            <a:r>
              <a:rPr lang="en-US" sz="900" b="0" i="0" u="none" strike="noStrike" cap="none">
                <a:solidFill>
                  <a:srgbClr val="00FF8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64977"/>
            <a:ext cx="11029950" cy="4461824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3"/>
          <p:cNvSpPr txBox="1"/>
          <p:nvPr/>
        </p:nvSpPr>
        <p:spPr>
          <a:xfrm>
            <a:off x="838200" y="2494451"/>
            <a:ext cx="51207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Questions </a:t>
            </a:r>
            <a:r>
              <a:rPr lang="en-US" sz="2300" b="1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and Discussion</a:t>
            </a:r>
            <a:endParaRPr sz="1900"/>
          </a:p>
        </p:txBody>
      </p:sp>
      <p:sp>
        <p:nvSpPr>
          <p:cNvPr id="370" name="Google Shape;370;p23"/>
          <p:cNvSpPr txBox="1"/>
          <p:nvPr/>
        </p:nvSpPr>
        <p:spPr>
          <a:xfrm>
            <a:off x="1066800" y="4127164"/>
            <a:ext cx="95235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Patient 263</a:t>
            </a:r>
            <a:r>
              <a:rPr lang="en-US" sz="1600" b="0" i="0" u="none" strike="noStrike" cap="none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 presents recurring pipeline data corruption anomalies. Should we exclude permanently, or keep debug resources allocated?</a:t>
            </a:r>
            <a:endParaRPr sz="1800" dirty="0"/>
          </a:p>
        </p:txBody>
      </p:sp>
      <p:sp>
        <p:nvSpPr>
          <p:cNvPr id="371" name="Google Shape;371;p23"/>
          <p:cNvSpPr txBox="1"/>
          <p:nvPr/>
        </p:nvSpPr>
        <p:spPr>
          <a:xfrm>
            <a:off x="1066800" y="5116608"/>
            <a:ext cx="9523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T</a:t>
            </a:r>
            <a:r>
              <a:rPr lang="en-US" sz="1600" b="0" i="0" u="none" strike="noStrike" cap="none" dirty="0">
                <a:solidFill>
                  <a:srgbClr val="9CB3C9"/>
                </a:solidFill>
                <a:latin typeface="Urbanist"/>
                <a:ea typeface="Urbanist"/>
                <a:cs typeface="Urbanist"/>
                <a:sym typeface="Urbanist"/>
              </a:rPr>
              <a:t>he specific IDs of the 2 flagged patients </a:t>
            </a:r>
            <a:endParaRPr sz="1800" dirty="0"/>
          </a:p>
        </p:txBody>
      </p:sp>
      <p:sp>
        <p:nvSpPr>
          <p:cNvPr id="372" name="Google Shape;372;p23"/>
          <p:cNvSpPr txBox="1"/>
          <p:nvPr/>
        </p:nvSpPr>
        <p:spPr>
          <a:xfrm>
            <a:off x="838200" y="3392388"/>
            <a:ext cx="571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373" name="Google Shape;373;p23"/>
          <p:cNvSpPr txBox="1"/>
          <p:nvPr/>
        </p:nvSpPr>
        <p:spPr>
          <a:xfrm>
            <a:off x="838200" y="4146500"/>
            <a:ext cx="57150" cy="1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374" name="Google Shape;374;p23"/>
          <p:cNvSpPr txBox="1"/>
          <p:nvPr/>
        </p:nvSpPr>
        <p:spPr>
          <a:xfrm>
            <a:off x="838200" y="5185366"/>
            <a:ext cx="57300" cy="1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■</a:t>
            </a:r>
            <a:endParaRPr/>
          </a:p>
        </p:txBody>
      </p:sp>
      <p:sp>
        <p:nvSpPr>
          <p:cNvPr id="375" name="Google Shape;375;p23"/>
          <p:cNvSpPr txBox="1"/>
          <p:nvPr/>
        </p:nvSpPr>
        <p:spPr>
          <a:xfrm>
            <a:off x="581025" y="485775"/>
            <a:ext cx="110299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F0FF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12 OPEN QUESTIONS</a:t>
            </a:r>
            <a:r>
              <a:rPr lang="en-US" sz="975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PREDICT</a:t>
            </a:r>
            <a:endParaRPr/>
          </a:p>
        </p:txBody>
      </p:sp>
      <p:sp>
        <p:nvSpPr>
          <p:cNvPr id="376" name="Google Shape;376;p23"/>
          <p:cNvSpPr/>
          <p:nvPr/>
        </p:nvSpPr>
        <p:spPr>
          <a:xfrm>
            <a:off x="581025" y="742950"/>
            <a:ext cx="11029950" cy="9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3"/>
          <p:cNvSpPr txBox="1"/>
          <p:nvPr/>
        </p:nvSpPr>
        <p:spPr>
          <a:xfrm>
            <a:off x="723900" y="942975"/>
            <a:ext cx="114315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ACTIVE </a:t>
            </a:r>
            <a:r>
              <a:rPr lang="en-US" sz="2550" b="1" i="0" u="none" strike="noStrike" cap="none" dirty="0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DISCUSSION POINTS</a:t>
            </a:r>
            <a:endParaRPr dirty="0"/>
          </a:p>
        </p:txBody>
      </p:sp>
      <p:sp>
        <p:nvSpPr>
          <p:cNvPr id="378" name="Google Shape;378;p23"/>
          <p:cNvSpPr/>
          <p:nvPr/>
        </p:nvSpPr>
        <p:spPr>
          <a:xfrm>
            <a:off x="581025" y="942975"/>
            <a:ext cx="38100" cy="390525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3"/>
          <p:cNvSpPr txBox="1"/>
          <p:nvPr/>
        </p:nvSpPr>
        <p:spPr>
          <a:xfrm>
            <a:off x="581025" y="6725245"/>
            <a:ext cx="11029950" cy="13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B658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 · GSOC 2026 · ML4SCI </a:t>
            </a:r>
            <a:r>
              <a:rPr lang="en-US" sz="900" b="0" i="0" u="none" strike="noStrike" cap="none">
                <a:solidFill>
                  <a:srgbClr val="00FF87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13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DDB3F3-0647-4018-8D9B-A0BAE2BE5CFC}"/>
              </a:ext>
            </a:extLst>
          </p:cNvPr>
          <p:cNvSpPr txBox="1"/>
          <p:nvPr/>
        </p:nvSpPr>
        <p:spPr>
          <a:xfrm>
            <a:off x="1015041" y="3378081"/>
            <a:ext cx="9123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</a:rPr>
              <a:t>[ IMP ] Testing and Validation: What we are comparing with fill poly or xml for testing.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77;p23">
            <a:extLst>
              <a:ext uri="{FF2B5EF4-FFF2-40B4-BE49-F238E27FC236}">
                <a16:creationId xmlns:a16="http://schemas.microsoft.com/office/drawing/2014/main" id="{16893DB2-4077-6413-2EF5-61C6B7299DC6}"/>
              </a:ext>
            </a:extLst>
          </p:cNvPr>
          <p:cNvSpPr txBox="1"/>
          <p:nvPr/>
        </p:nvSpPr>
        <p:spPr>
          <a:xfrm>
            <a:off x="723900" y="942975"/>
            <a:ext cx="114315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ACTIVE </a:t>
            </a:r>
            <a:r>
              <a:rPr lang="en-US" sz="2550" b="1" i="0" u="none" strike="noStrike" cap="none" dirty="0">
                <a:solidFill>
                  <a:srgbClr val="00F0FF"/>
                </a:solidFill>
                <a:latin typeface="Urbanist"/>
                <a:ea typeface="Urbanist"/>
                <a:cs typeface="Urbanist"/>
                <a:sym typeface="Urbanist"/>
              </a:rPr>
              <a:t>DISCUSSION POINTS</a:t>
            </a:r>
            <a:endParaRPr dirty="0"/>
          </a:p>
        </p:txBody>
      </p:sp>
      <p:pic>
        <p:nvPicPr>
          <p:cNvPr id="5" name="Google Shape;366;p23" descr="image.png">
            <a:extLst>
              <a:ext uri="{FF2B5EF4-FFF2-40B4-BE49-F238E27FC236}">
                <a16:creationId xmlns:a16="http://schemas.microsoft.com/office/drawing/2014/main" id="{2DE6DB67-8083-3C8C-8A35-0E18153180C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77;p23">
            <a:extLst>
              <a:ext uri="{FF2B5EF4-FFF2-40B4-BE49-F238E27FC236}">
                <a16:creationId xmlns:a16="http://schemas.microsoft.com/office/drawing/2014/main" id="{2FC81FF8-A7BD-AA41-8993-4EAC5AB59554}"/>
              </a:ext>
            </a:extLst>
          </p:cNvPr>
          <p:cNvSpPr txBox="1"/>
          <p:nvPr/>
        </p:nvSpPr>
        <p:spPr>
          <a:xfrm>
            <a:off x="1035346" y="2677129"/>
            <a:ext cx="7562313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800" b="1" dirty="0">
                <a:solidFill>
                  <a:srgbClr val="00FFFF"/>
                </a:solidFill>
              </a:rPr>
              <a:t>Thank</a:t>
            </a:r>
            <a:r>
              <a:rPr lang="en-IN" sz="8800" b="1" dirty="0"/>
              <a:t> </a:t>
            </a:r>
            <a:r>
              <a:rPr lang="en-IN" sz="8800" b="1" dirty="0">
                <a:solidFill>
                  <a:schemeClr val="bg1"/>
                </a:solidFill>
              </a:rPr>
              <a:t>You…</a:t>
            </a:r>
            <a:endParaRPr sz="8800" b="1" dirty="0">
              <a:solidFill>
                <a:schemeClr val="bg1"/>
              </a:solidFill>
            </a:endParaRPr>
          </a:p>
        </p:txBody>
      </p:sp>
      <p:sp>
        <p:nvSpPr>
          <p:cNvPr id="7" name="Google Shape;360;p22">
            <a:extLst>
              <a:ext uri="{FF2B5EF4-FFF2-40B4-BE49-F238E27FC236}">
                <a16:creationId xmlns:a16="http://schemas.microsoft.com/office/drawing/2014/main" id="{01C09247-2CBB-FDF2-04F2-0E99BA1CA546}"/>
              </a:ext>
            </a:extLst>
          </p:cNvPr>
          <p:cNvSpPr/>
          <p:nvPr/>
        </p:nvSpPr>
        <p:spPr>
          <a:xfrm>
            <a:off x="448752" y="2951614"/>
            <a:ext cx="137843" cy="95477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7272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931</Words>
  <Application>Microsoft Office PowerPoint</Application>
  <PresentationFormat>Widescreen</PresentationFormat>
  <Paragraphs>188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Calibri</vt:lpstr>
      <vt:lpstr>Urbanist SemiBold</vt:lpstr>
      <vt:lpstr>JetBrains Mono</vt:lpstr>
      <vt:lpstr>Urbanist Black</vt:lpstr>
      <vt:lpstr>Urbanist Medium</vt:lpstr>
      <vt:lpstr>Urbanist</vt:lpstr>
      <vt:lpstr>JetBrains Mono Medium</vt:lpstr>
      <vt:lpstr>Arial</vt:lpstr>
      <vt:lpstr>JetBrains Mono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Soham Jadhav</cp:lastModifiedBy>
  <cp:revision>10</cp:revision>
  <dcterms:modified xsi:type="dcterms:W3CDTF">2026-06-26T10:37:00Z</dcterms:modified>
</cp:coreProperties>
</file>